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9" r:id="rId3"/>
    <p:sldId id="265" r:id="rId4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11"/>
    <p:sldId id="289" r:id="rId10"/>
    <p:sldId id="290" r:id="rId8"/>
    <p:sldId id="291" r:id="rId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83" userDrawn="1">
          <p15:clr>
            <a:srgbClr val="A4A3A4"/>
          </p15:clr>
        </p15:guide>
        <p15:guide id="2" orient="horz" pos="2276" userDrawn="1">
          <p15:clr>
            <a:srgbClr val="A4A3A4"/>
          </p15:clr>
        </p15:guide>
        <p15:guide id="3" orient="horz" pos="279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6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son" initials="e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3A1C"/>
    <a:srgbClr val="F2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7" autoAdjust="0"/>
    <p:restoredTop sz="94674"/>
  </p:normalViewPr>
  <p:slideViewPr>
    <p:cSldViewPr snapToGrid="0" snapToObjects="1">
      <p:cViewPr varScale="1">
        <p:scale>
          <a:sx n="118" d="100"/>
          <a:sy n="118" d="100"/>
        </p:scale>
        <p:origin x="240" y="96"/>
      </p:cViewPr>
      <p:guideLst>
        <p:guide pos="3883"/>
        <p:guide orient="horz" pos="2276"/>
        <p:guide orient="horz" pos="279"/>
        <p:guide orient="horz" pos="4088"/>
        <p:guide pos="64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0.xml"/><Relationship Id="rId8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7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office.msn.com.cn/" TargetMode="Externa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004" y="258233"/>
            <a:ext cx="4868117" cy="529569"/>
          </a:xfrm>
          <a:prstGeom prst="rect">
            <a:avLst/>
          </a:prstGeom>
          <a:ln w="12700" cmpd="sng">
            <a:solidFill>
              <a:schemeClr val="tx1"/>
            </a:solidFill>
          </a:ln>
        </p:spPr>
        <p:txBody>
          <a:bodyPr vert="horz" anchor="ctr"/>
          <a:lstStyle>
            <a:lvl1pPr marL="0" indent="0" algn="l">
              <a:buNone/>
              <a:defRPr sz="24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CLICK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HERE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ADD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YOUR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TITLE</a:t>
            </a:r>
            <a:endParaRPr kumimoji="1" lang="zh-CN" altLang="en-US" dirty="0"/>
          </a:p>
        </p:txBody>
      </p:sp>
      <p:sp>
        <p:nvSpPr>
          <p:cNvPr id="3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1386592" y="171547"/>
            <a:ext cx="805408" cy="616255"/>
          </a:xfrm>
          <a:prstGeom prst="rect">
            <a:avLst/>
          </a:prstGeom>
          <a:solidFill>
            <a:schemeClr val="tx1"/>
          </a:solidFill>
        </p:spPr>
        <p:txBody>
          <a:bodyPr vert="horz" anchor="ctr"/>
          <a:lstStyle>
            <a:lvl1pPr marL="0" indent="0" algn="ctr">
              <a:buNone/>
              <a:defRPr sz="2400" b="1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lvl="0"/>
            <a:r>
              <a:rPr kumimoji="1" lang="en-US" altLang="zh-CN" dirty="0" smtClean="0"/>
              <a:t>01</a:t>
            </a:r>
            <a:endParaRPr kumimoji="1" lang="zh-CN" altLang="en-US" dirty="0"/>
          </a:p>
        </p:txBody>
      </p:sp>
      <p:sp>
        <p:nvSpPr>
          <p:cNvPr id="4" name="图片占位符 8"/>
          <p:cNvSpPr>
            <a:spLocks noGrp="1"/>
          </p:cNvSpPr>
          <p:nvPr>
            <p:ph type="pic" sz="quarter" idx="14" hasCustomPrompt="1"/>
          </p:nvPr>
        </p:nvSpPr>
        <p:spPr>
          <a:xfrm>
            <a:off x="376768" y="5989475"/>
            <a:ext cx="1960033" cy="5334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600" b="1"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r>
              <a:rPr kumimoji="1" lang="en-US" altLang="zh-CN" sz="1600" b="1" dirty="0" smtClean="0"/>
              <a:t>LOGO&amp;PIC</a:t>
            </a:r>
            <a:r>
              <a:rPr kumimoji="1" lang="zh-CN" altLang="en-US" sz="1600" b="1" dirty="0" smtClean="0"/>
              <a:t> </a:t>
            </a:r>
            <a:r>
              <a:rPr kumimoji="1" lang="en-US" altLang="zh-CN" sz="1600" b="1" dirty="0" smtClean="0"/>
              <a:t>HERE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背景图片素材</a:t>
            </a:r>
            <a:endParaRPr lang="zh-CN" altLang="en-US" sz="1800" dirty="0" smtClean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62361" cy="379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lang="zh-CN" altLang="en-US" sz="18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标注</a:t>
            </a:r>
            <a:endParaRPr lang="zh-CN" altLang="en-US" sz="18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3453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字体使用 </a:t>
            </a: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行距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背景图片出处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声明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42398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英文 </a:t>
            </a:r>
            <a:r>
              <a:rPr lang="en-US" altLang="zh-CN" sz="1400" dirty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Segoe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 charset="0"/>
                <a:ea typeface="Segoe UI Light" charset="0"/>
                <a:cs typeface="Segoe UI Light" charset="0"/>
              </a:rPr>
              <a:t>UI</a:t>
            </a:r>
            <a:endParaRPr lang="zh-CN" altLang="en-US" sz="1400" dirty="0" smtClean="0">
              <a:solidFill>
                <a:srgbClr val="FFFFFF"/>
              </a:solidFill>
              <a:latin typeface="Segoe UI Light" charset="0"/>
              <a:ea typeface="Segoe UI Light" charset="0"/>
              <a:cs typeface="Segoe UI Light" charset="0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中文 微软雅黑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正文 </a:t>
            </a:r>
            <a:r>
              <a:rPr lang="en-US" altLang="zh-CN" sz="1400" dirty="0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1.3</a:t>
            </a: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en-US" altLang="zh-CN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r>
              <a:rPr lang="en-US" altLang="zh-CN" sz="1400" dirty="0" err="1" smtClean="0">
                <a:solidFill>
                  <a:srgbClr val="FFFFFF"/>
                </a:solidFill>
                <a:latin typeface="Segoe UI Light"/>
                <a:ea typeface="微软雅黑"/>
                <a:cs typeface="Segoe UI Light"/>
              </a:rPr>
              <a:t>cn.bing.com</a:t>
            </a: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defTabSz="609600">
              <a:lnSpc>
                <a:spcPct val="130000"/>
              </a:lnSpc>
            </a:pPr>
            <a:endParaRPr lang="zh-CN" altLang="en-US" sz="1400" dirty="0" smtClean="0">
              <a:solidFill>
                <a:srgbClr val="FFFFFF"/>
              </a:solidFill>
              <a:latin typeface="Segoe UI Light"/>
              <a:ea typeface="微软雅黑"/>
              <a:cs typeface="Segoe UI Light"/>
            </a:endParaRPr>
          </a:p>
          <a:p>
            <a:pPr marL="0" marR="0" lvl="0" indent="0" algn="l" defTabSz="6096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本网站所提供的任何信息内容（包括但不限于 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PPT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模板、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Word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文档、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Excel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 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图表、图片素材等）均受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中华人民共和国著作权法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、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《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信息网络传播权保护条例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》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及其他适用的法律法规的保护，未经权利人书面明确授权，信息内容的任何部分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(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包括图片或图表</a:t>
            </a:r>
            <a:r>
              <a:rPr kumimoji="0" lang="en-US" altLang="zh-CN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)</a:t>
            </a:r>
            <a:r>
              <a:rPr kumimoji="0" lang="zh-CN" altLang="en-US" sz="1335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/>
                <a:ea typeface="微软雅黑" charset="0"/>
                <a:cs typeface="+mn-cs"/>
              </a:rPr>
              <a:t>不得被全部或部分的复制、传播、销售，否则将承担法律责任。</a:t>
            </a:r>
            <a:endParaRPr kumimoji="0" lang="zh-CN" altLang="en-US" sz="1335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/>
              <a:ea typeface="微软雅黑" charset="0"/>
              <a:cs typeface="+mn-cs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600"/>
            <a:r>
              <a:rPr kumimoji="1" lang="en-US" altLang="zh-CN" sz="1000" dirty="0" smtClean="0">
                <a:solidFill>
                  <a:prstClr val="white"/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prstClr val="white"/>
              </a:solidFill>
              <a:latin typeface="Segoe UI Light"/>
              <a:ea typeface="微软雅黑" charset="0"/>
              <a:cs typeface="Segoe UI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4447955" y="4458724"/>
            <a:ext cx="329609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609600"/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点击</a:t>
            </a:r>
            <a:r>
              <a:rPr kumimoji="1" lang="en-US" altLang="zh-CN" sz="1335" dirty="0" smtClean="0">
                <a:solidFill>
                  <a:srgbClr val="000000"/>
                </a:solidFill>
                <a:latin typeface="Segoe UI Light" charset="0"/>
                <a:ea typeface="Segoe UI Light" charset="0"/>
                <a:cs typeface="Segoe UI Light" charset="0"/>
              </a:rPr>
              <a:t>Logo</a:t>
            </a:r>
            <a:r>
              <a:rPr kumimoji="1" lang="zh-CN" altLang="en-US" sz="1335" dirty="0" smtClean="0">
                <a:solidFill>
                  <a:srgbClr val="000000"/>
                </a:solidFill>
                <a:latin typeface="Century Gothic"/>
                <a:ea typeface="微软雅黑" charset="0"/>
              </a:rPr>
              <a:t>获取更多优质模板（放映模式）</a:t>
            </a:r>
            <a:endParaRPr kumimoji="1" lang="zh-CN" altLang="en-US" sz="1335" dirty="0">
              <a:solidFill>
                <a:srgbClr val="000000"/>
              </a:solidFill>
              <a:latin typeface="Century Gothic"/>
              <a:ea typeface="微软雅黑" charset="0"/>
            </a:endParaRPr>
          </a:p>
        </p:txBody>
      </p:sp>
      <p:pic>
        <p:nvPicPr>
          <p:cNvPr id="4" name="图片 3">
            <a:hlinkClick r:id="rId2"/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27832"/>
            <a:ext cx="3048000" cy="40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329498" y="2964930"/>
            <a:ext cx="753300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t>Claude Code：从全景到 SubAgent 与 Multi-Agent</a:t>
            </a:r>
            <a:endParaRPr lang="zh-CN" altLang="en-US" sz="4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10674985" y="5873750"/>
            <a:ext cx="11664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t>分享约 25 分钟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5242559" y="965935"/>
            <a:ext cx="1706880" cy="1383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 smtClean="0">
                <a:latin typeface="+mj-lt"/>
              </a:rPr>
              <a:t>目录</a:t>
            </a:r>
            <a:endParaRPr lang="en-US" altLang="zh-CN" sz="6000" dirty="0" smtClean="0">
              <a:latin typeface="+mj-lt"/>
            </a:endParaRPr>
          </a:p>
          <a:p>
            <a:pPr algn="ctr"/>
            <a:endParaRPr lang="en-US" altLang="zh-CN" sz="2400" dirty="0"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590042" y="3233430"/>
            <a:ext cx="1751798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整体概览</a:t>
            </a:r>
            <a:endParaRPr lang="zh-CN" altLang="en-US" sz="2800" b="1" dirty="0" smtClean="0">
              <a:latin typeface="+mj-lt"/>
              <a:ea typeface="微软雅黑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31399" y="3233430"/>
            <a:ext cx="1751798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SubAgents</a:t>
            </a:r>
            <a:endParaRPr lang="zh-CN" altLang="en-US" sz="2800" b="1" dirty="0" smtClean="0">
              <a:latin typeface="+mj-lt"/>
              <a:ea typeface="微软雅黑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49440" y="3233420"/>
            <a:ext cx="251904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演进与总结</a:t>
            </a:r>
            <a:endParaRPr lang="zh-CN" altLang="en-US" sz="2800" b="1" dirty="0" smtClean="0">
              <a:latin typeface="+mj-lt"/>
              <a:ea typeface="微软雅黑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599333" y="4173471"/>
            <a:ext cx="1638300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478298" y="4173471"/>
            <a:ext cx="1638300" cy="1133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406005" y="4158615"/>
            <a:ext cx="1605915" cy="12827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4400"/>
              <a:t> </a:t>
            </a:r>
            <a:endParaRPr lang="en-US" altLang="zh-CN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PART ONE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整体概览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为什么要讲全景？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Vibe Coding 下 Claude Code 成为常用工具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先建立四层结构认知，再理解 SubAgent 在拓展层的位置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技术全览：四层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基础层：Memory（CLAUDE.md）— 项目手册与长期上下文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拓展层：Commands / Skills / SubAgents / Hooks</a:t>
            </a:r>
          </a:p>
          <a:p>
            <a:r>
              <a:t>集成层：Headless、MCP — CI/CD 与外部系统</a:t>
            </a:r>
          </a:p>
          <a:p>
            <a:r>
              <a:t>编程接口层：Agent SDK — 代码驱动编排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拓展层四件套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Commands：显式触发，标准化流程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Skills：上下文自主发现，自动选用能力</a:t>
            </a:r>
          </a:p>
          <a:p>
            <a:r>
              <a:t>SubAgents：隔离执行，切分上下文与权限</a:t>
            </a:r>
          </a:p>
          <a:p>
            <a:r>
              <a:t>Hooks：事件驱动，工具前后自动逻辑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Skill / Command / MCP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MCP：连接外部世界（API、库、命令）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Skills：规定如何执行任务（步骤、规范、决策）</a:t>
            </a:r>
          </a:p>
          <a:p>
            <a:r>
              <a:t>Commands vs Skills：固定口令 vs 上下文自动编排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选型一句话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手动触发 → Commands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自动按场景用能力 → Skills</a:t>
            </a:r>
          </a:p>
          <a:p>
            <a:r>
              <a:t>隔离上下文与职责 → SubAgents</a:t>
            </a:r>
          </a:p>
          <a:p>
            <a:r>
              <a:t>事件时检查 → Hooks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PART TWO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SubAgents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为什么要有 SubAgent？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上下文膨胀：日志与分析堆满主对话，噪声淹没重点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权限：审查/审计需要只读，避免误改</a:t>
            </a:r>
          </a:p>
          <a:p>
            <a:r>
              <a:t>职责：同一会话多任务导致注意力分散</a:t>
            </a:r>
          </a:p>
          <a:p>
            <a:r>
              <a:t>价值：高噪声任务切出去，主 Agent 只收整理后的结论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工程视角：专职小助手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自有上下文窗口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可单独授予工具权限</a:t>
            </a:r>
          </a:p>
          <a:p>
            <a:r>
              <a:t>职责边界清晰</a:t>
            </a:r>
          </a:p>
          <a:p>
            <a:r>
              <a:t>结束后摘要带回主 Agent</a:t>
            </a:r>
          </a:p>
          <a:p>
            <a:r>
              <a:t>价值：上下文隔离、权限约束、复用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什么时候用子代理？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适合：高噪声、需隔离、可拆分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例：跑测试/啃日志、Code Review、并行任务、流水线修 Bug</a:t>
            </a:r>
          </a:p>
          <a:p>
            <a:r>
              <a:t>不太适合：需用户频繁交互、不断改方向</a:t>
            </a:r>
          </a:p>
          <a:p>
            <a:r>
              <a:t>原则：子代理由主 Agent 创建，勿在子代理内再套子代理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如何编写 SubAgent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路径：.claude/subagents/ 下 Markdown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YAML frontmatter：名称、描述、工具、模型等</a:t>
            </a:r>
          </a:p>
          <a:p>
            <a:r>
              <a:t>正文 Prompt：角色、步骤、输出格式</a:t>
            </a:r>
          </a:p>
          <a:p>
            <a:r>
              <a:t>要点：description 写清「做什么 + 何时调用」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配置要点（速查）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name / description：必填；description 决定触发时机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tools / disallowedTools：白名单或黑名单，择一即可</a:t>
            </a:r>
          </a:p>
          <a:p>
            <a:r>
              <a:t>model：haiku / sonnet / opus / inherit</a:t>
            </a:r>
          </a:p>
          <a:p>
            <a:r>
              <a:t>permissionMode：如 plan 偏只读探索</a:t>
            </a:r>
          </a:p>
          <a:p>
            <a:r>
              <a:t>skills：预加载领域知识</a:t>
            </a:r>
          </a:p>
          <a:p>
            <a:r>
              <a:t>hooks：工具层硬约束，比只写 Prompt 可靠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工作流编排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并行：子任务独立 → 多 SubAgent 并行 → 主 Agent 汇总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流水线：强阶段依赖（定位→分析→修复→验证）→ 按阶段交接</a:t>
            </a:r>
          </a:p>
          <a:p>
            <a:r>
              <a:t>真实场景常为混合：先串行定位，再并行分析，再串行收口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并行 vs 流水线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独立吗？→ 并行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后一步依赖前一步输出吗？→ 流水线</a:t>
            </a:r>
          </a:p>
          <a:p>
            <a:r>
              <a:t>编排围绕业务依赖，不为多 Agent 而多 Agent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SubAgent Team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普通 SubAgent 彼此通常无法直接对话，交叉线索难合并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典型：诡异 Bug 多假设，需多视角互证、互相挑战</a:t>
            </a:r>
          </a:p>
          <a:p>
            <a:r>
              <a:t>Agent Team：围绕同一问题协作，而非只并行交报告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启用 Agent Team（实验）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settings.json 中设置环境变量：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CLAUDE_CODE_EXPERIMENTAL_AGENT_TEAMS = 1</a:t>
            </a:r>
          </a:p>
          <a:p>
            <a:r>
              <a:t>可用自然语言创建团队；任务结束后团队清理</a:t>
            </a:r>
          </a:p>
          <a:p>
            <a:r>
              <a:t>本地：~/.claude/teams/ 与 ~/.claude/tasks/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PART THREE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从 SubAgent 到 Multi-Agent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常见误区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过早引入多 Agent：调度器、协议、状态机先行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复杂度与维护成本上升</a:t>
            </a:r>
          </a:p>
          <a:p>
            <a:r>
              <a:t>更稳：随业务复杂度渐进演进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何时需要多 Agent？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上下文管理失控：多领域知识无法塞进同一 Prompt，需按角色分发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分布式维护：安全/测试/开发各自维护 Agent 能力 → 跨团队协作问题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架构演进（四步）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单一 Agent：起步阶段多数够用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单 Agent + Skills：Tools/Prompt 膨胀时渐进加载</a:t>
            </a:r>
          </a:p>
          <a:p>
            <a:r>
              <a:t>Supervisor + SubAgent：隔离、权限、拆分</a:t>
            </a:r>
          </a:p>
          <a:p>
            <a:r>
              <a:t>混合架构：Router + Sub-Agent + Handoff 等组合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决策简表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单领域、工具少 → 单 Agent + 好 Prompt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工具很多 → Skills</a:t>
            </a:r>
          </a:p>
          <a:p>
            <a:r>
              <a:t>多领域独立上下文 → Sub-Agents</a:t>
            </a:r>
          </a:p>
          <a:p>
            <a:r>
              <a:t>强状态流转 → Handoffs</a:t>
            </a:r>
          </a:p>
          <a:p>
            <a:r>
              <a:t>多数据源并行查询 → Router 等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4927" y="3280457"/>
            <a:ext cx="3602146" cy="880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PART FOUR</a:t>
            </a:r>
            <a:endParaRPr lang="zh-CN" altLang="en-US" sz="4400" b="1" dirty="0">
              <a:latin typeface="+mj-lt"/>
              <a:ea typeface="微软雅黑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733" y="2417412"/>
            <a:ext cx="4318534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600">
              <a:lnSpc>
                <a:spcPct val="130000"/>
              </a:lnSpc>
            </a:pPr>
            <a:r>
              <a:t>总结</a:t>
            </a:r>
            <a:endParaRPr lang="zh-CN" altLang="en-US" sz="6000" dirty="0" smtClean="0">
              <a:latin typeface="+mj-lt"/>
              <a:ea typeface="微软雅黑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89817" y="4139690"/>
            <a:ext cx="2412366" cy="1133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4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一条演进线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先用单 Agent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Prompt/Tools 膨胀 → Skills</a:t>
            </a:r>
          </a:p>
          <a:p>
            <a:r>
              <a:t>要隔离上下文与权限 → SubAgent</a:t>
            </a:r>
          </a:p>
          <a:p>
            <a:r>
              <a:t>真·多角色协作 → Agent Team / Multi-Agent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好的 SubAgent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边界清晰、职责明确、易复用、便于团队分工维护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不只是能跑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结语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具体配置字段忘了并不重要。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重要的是：在上下文膨胀、权限不清、职责混乱时，</a:t>
            </a:r>
          </a:p>
          <a:p>
            <a:r>
              <a:t>用 SubAgent 编排工作流，把主会话留给决策与整合。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474289" y="144633"/>
            <a:ext cx="518985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t>时间分配（25 分钟）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579755" y="666750"/>
            <a:ext cx="11377295" cy="2651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t>整体概览 ≈ 5 分钟</a:t>
            </a: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  <a:p>
            <a:r>
              <a:t>SubAgents（含 Team）≈ 12 分钟</a:t>
            </a:r>
          </a:p>
          <a:p>
            <a:r>
              <a:t>SubAgent → Multi-Agent ≈ 5 分钟</a:t>
            </a:r>
          </a:p>
          <a:p>
            <a:r>
              <a:t>总结与 Q&amp;A 缓冲 ≈ 3 分钟</a:t>
            </a:r>
          </a:p>
        </p:txBody>
      </p:sp>
      <p:sp>
        <p:nvSpPr>
          <p:cNvPr id="12" name="矩形 11"/>
          <p:cNvSpPr/>
          <p:nvPr/>
        </p:nvSpPr>
        <p:spPr>
          <a:xfrm>
            <a:off x="6181725" y="5450205"/>
            <a:ext cx="5532120" cy="730885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lnSpc>
                <a:spcPct val="130000"/>
              </a:lnSpc>
            </a:pPr>
            <a:endParaRPr sz="1600" dirty="0">
              <a:solidFill>
                <a:schemeClr val="bg1">
                  <a:lumMod val="50000"/>
                </a:schemeClr>
              </a:solidFill>
              <a:latin typeface="微软雅黑" charset="0"/>
              <a:ea typeface="微软雅黑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6820</Words>
  <Application>WPS 演示</Application>
  <PresentationFormat>宽屏</PresentationFormat>
  <Paragraphs>439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0" baseType="lpstr">
      <vt:lpstr>Arial</vt:lpstr>
      <vt:lpstr>宋体</vt:lpstr>
      <vt:lpstr>Wingdings</vt:lpstr>
      <vt:lpstr>Segoe UI Light</vt:lpstr>
      <vt:lpstr>苹方-简</vt:lpstr>
      <vt:lpstr>Segoe UI Light</vt:lpstr>
      <vt:lpstr>Thonburi</vt:lpstr>
      <vt:lpstr>微软雅黑</vt:lpstr>
      <vt:lpstr>微软雅黑</vt:lpstr>
      <vt:lpstr>Century Gothic</vt:lpstr>
      <vt:lpstr>汉仪旗黑</vt:lpstr>
      <vt:lpstr>Segoe UI</vt:lpstr>
      <vt:lpstr>微软雅黑</vt:lpstr>
      <vt:lpstr>宋体</vt:lpstr>
      <vt:lpstr>Arial Unicode MS</vt:lpstr>
      <vt:lpstr>Calibri</vt:lpstr>
      <vt:lpstr>Helvetica Neue</vt:lpstr>
      <vt:lpstr>汉仪书宋二KW</vt:lpstr>
      <vt:lpstr>PingFang SC Regular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BOSSPPT2017-2018极简风格</dc:title>
  <dc:creator>BOSSPPT 2017-2018</dc:creator>
  <cp:keywords>BOSSPPT顶尖职业文案</cp:keywords>
  <dc:description>BOSSPPT致力于提供高质量，有品质的模板，拒绝垃圾模板！
本模板由bossppt设计师制作或制作师二次制作整理，bossppt为此花费了大量心血。
如果非本店购买，请直接向盗版店进行索赔。
本店淘宝唯一购买网址：https://chinappt.taobao.com</dc:description>
  <dc:subject>BOSSPPT 2017-2018</dc:subject>
  <cp:category>店铺： BOSSPPT顶尖职业文案</cp:category>
  <cp:lastModifiedBy>陈烁峰</cp:lastModifiedBy>
  <cp:revision>207</cp:revision>
  <dcterms:created xsi:type="dcterms:W3CDTF">2024-06-18T05:14:42Z</dcterms:created>
  <dcterms:modified xsi:type="dcterms:W3CDTF">2024-06-18T05:14:42Z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18686F07AE188EE1FE3F1463A662DF5F</vt:lpwstr>
  </property>
  <property fmtid="{D5CDD505-2E9C-101B-9397-08002B2CF9AE}" pid="3" name="KSOProductBuildVer">
    <vt:lpwstr>2052-6.8.2.8850</vt:lpwstr>
  </property>
</Properties>
</file>