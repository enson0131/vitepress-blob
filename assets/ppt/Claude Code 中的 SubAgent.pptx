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9" r:id="rId3"/>
    <p:sldId id="265" r:id="rId4"/>
    <p:sldId id="266" r:id="rId5"/>
    <p:sldId id="273" r:id="rId6"/>
    <p:sldId id="274" r:id="rId7"/>
    <p:sldId id="420" r:id="rId9"/>
    <p:sldId id="267" r:id="rId10"/>
    <p:sldId id="276" r:id="rId11"/>
    <p:sldId id="474" r:id="rId12"/>
    <p:sldId id="524" r:id="rId13"/>
    <p:sldId id="449" r:id="rId14"/>
    <p:sldId id="525" r:id="rId15"/>
    <p:sldId id="501" r:id="rId16"/>
    <p:sldId id="526" r:id="rId17"/>
    <p:sldId id="527" r:id="rId18"/>
    <p:sldId id="534" r:id="rId19"/>
    <p:sldId id="386" r:id="rId20"/>
    <p:sldId id="416" r:id="rId21"/>
    <p:sldId id="272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05" userDrawn="1">
          <p15:clr>
            <a:srgbClr val="A4A3A4"/>
          </p15:clr>
        </p15:guide>
        <p15:guide id="2" orient="horz" pos="2138" userDrawn="1">
          <p15:clr>
            <a:srgbClr val="A4A3A4"/>
          </p15:clr>
        </p15:guide>
        <p15:guide id="3" orient="horz" pos="250" userDrawn="1">
          <p15:clr>
            <a:srgbClr val="A4A3A4"/>
          </p15:clr>
        </p15:guide>
        <p15:guide id="4" orient="horz" pos="4075" userDrawn="1">
          <p15:clr>
            <a:srgbClr val="A4A3A4"/>
          </p15:clr>
        </p15:guide>
        <p15:guide id="5" pos="5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son" initials="e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27" autoAdjust="0"/>
    <p:restoredTop sz="94674"/>
  </p:normalViewPr>
  <p:slideViewPr>
    <p:cSldViewPr snapToGrid="0" snapToObjects="1" showGuides="1">
      <p:cViewPr varScale="1">
        <p:scale>
          <a:sx n="118" d="100"/>
          <a:sy n="118" d="100"/>
        </p:scale>
        <p:origin x="240" y="96"/>
      </p:cViewPr>
      <p:guideLst>
        <p:guide pos="3905"/>
        <p:guide orient="horz" pos="2138"/>
        <p:guide orient="horz" pos="250"/>
        <p:guide orient="horz" pos="4075"/>
        <p:guide pos="5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004" y="258233"/>
            <a:ext cx="4868117" cy="529569"/>
          </a:xfrm>
          <a:prstGeom prst="rect">
            <a:avLst/>
          </a:prstGeom>
          <a:ln w="12700" cmpd="sng">
            <a:solidFill>
              <a:schemeClr val="tx1"/>
            </a:solidFill>
          </a:ln>
        </p:spPr>
        <p:txBody>
          <a:bodyPr vert="horz" anchor="ctr"/>
          <a:lstStyle>
            <a:lvl1pPr marL="0" indent="0" algn="l">
              <a:buNone/>
              <a:defRPr sz="2400" b="1"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  <p:sp>
        <p:nvSpPr>
          <p:cNvPr id="3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1386592" y="171547"/>
            <a:ext cx="805408" cy="616255"/>
          </a:xfrm>
          <a:prstGeom prst="rect">
            <a:avLst/>
          </a:prstGeom>
          <a:solidFill>
            <a:schemeClr val="tx1"/>
          </a:solidFill>
        </p:spPr>
        <p:txBody>
          <a:bodyPr vert="horz" anchor="ctr"/>
          <a:lstStyle>
            <a:lvl1pPr marL="0" indent="0" algn="ctr">
              <a:buNone/>
              <a:defRPr sz="2400" b="1">
                <a:solidFill>
                  <a:srgbClr val="FFFFFF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lvl="0"/>
            <a:r>
              <a:rPr kumimoji="1" lang="en-US" altLang="zh-CN" dirty="0" smtClean="0"/>
              <a:t>01</a:t>
            </a:r>
            <a:endParaRPr kumimoji="1" lang="zh-CN" altLang="en-US" dirty="0"/>
          </a:p>
        </p:txBody>
      </p:sp>
      <p:sp>
        <p:nvSpPr>
          <p:cNvPr id="4" name="图片占位符 8"/>
          <p:cNvSpPr>
            <a:spLocks noGrp="1"/>
          </p:cNvSpPr>
          <p:nvPr>
            <p:ph type="pic" sz="quarter" idx="14" hasCustomPrompt="1"/>
          </p:nvPr>
        </p:nvSpPr>
        <p:spPr>
          <a:xfrm>
            <a:off x="376768" y="5989475"/>
            <a:ext cx="1960033" cy="533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600" b="1"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r>
              <a:rPr kumimoji="1" lang="en-US" altLang="zh-CN" sz="1600" b="1" dirty="0" smtClean="0"/>
              <a:t>LOGO&amp;PIC</a:t>
            </a:r>
            <a:r>
              <a:rPr kumimoji="1" lang="zh-CN" altLang="en-US" sz="1600" b="1" dirty="0" smtClean="0"/>
              <a:t> </a:t>
            </a:r>
            <a:r>
              <a:rPr kumimoji="1" lang="en-US" altLang="zh-CN" sz="1600" b="1" dirty="0" smtClean="0"/>
              <a:t>HERE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标注</a:t>
            </a:r>
            <a:endParaRPr lang="zh-CN" altLang="en-US" sz="18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字体使用 </a:t>
            </a: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行距</a:t>
            </a: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背景图片出处</a:t>
            </a:r>
            <a:endParaRPr lang="zh-CN" altLang="en-US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声明</a:t>
            </a: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英文 </a:t>
            </a:r>
            <a:r>
              <a:rPr lang="en-US" altLang="zh-CN" sz="1400" dirty="0">
                <a:solidFill>
                  <a:srgbClr val="FFFFFF"/>
                </a:solidFill>
                <a:latin typeface="Segoe UI Light" charset="0"/>
                <a:ea typeface="Segoe UI Light" charset="0"/>
                <a:cs typeface="Segoe UI Light" charset="0"/>
              </a:rPr>
              <a:t>Segoe </a:t>
            </a:r>
            <a:r>
              <a:rPr lang="en-US" altLang="zh-CN" sz="1400" dirty="0" smtClean="0">
                <a:solidFill>
                  <a:srgbClr val="FFFFFF"/>
                </a:solidFill>
                <a:latin typeface="Segoe UI Light" charset="0"/>
                <a:ea typeface="Segoe UI Light" charset="0"/>
                <a:cs typeface="Segoe UI Light" charset="0"/>
              </a:rPr>
              <a:t>UI</a:t>
            </a:r>
            <a:endParaRPr lang="zh-CN" altLang="en-US" sz="1400" dirty="0" smtClean="0">
              <a:solidFill>
                <a:srgbClr val="FFFFFF"/>
              </a:solidFill>
              <a:latin typeface="Segoe UI Light" charset="0"/>
              <a:ea typeface="Segoe UI Light" charset="0"/>
              <a:cs typeface="Segoe UI Light" charset="0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中文 微软雅黑</a:t>
            </a: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正文 </a:t>
            </a:r>
            <a:r>
              <a:rPr lang="en-US" altLang="zh-CN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1.3</a:t>
            </a: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en-US" altLang="zh-CN" sz="1400" dirty="0" err="1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cn.bing.com</a:t>
            </a:r>
            <a:endParaRPr lang="zh-CN" altLang="en-US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6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  <a:endParaRPr kumimoji="0" lang="zh-CN" altLang="en-US" sz="13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 charset="0"/>
              <a:cs typeface="+mn-cs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 smtClean="0">
                <a:solidFill>
                  <a:prstClr val="white"/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prstClr val="white"/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09600"/>
            <a:r>
              <a:rPr kumimoji="1" lang="zh-CN" altLang="en-US" sz="1335" dirty="0" smtClean="0">
                <a:solidFill>
                  <a:srgbClr val="000000"/>
                </a:solidFill>
                <a:latin typeface="Century Gothic"/>
                <a:ea typeface="微软雅黑" charset="0"/>
              </a:rPr>
              <a:t>点击</a:t>
            </a:r>
            <a:r>
              <a:rPr kumimoji="1" lang="en-US" altLang="zh-CN" sz="1335" dirty="0" smtClean="0">
                <a:solidFill>
                  <a:srgbClr val="000000"/>
                </a:solidFill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5" dirty="0" smtClean="0">
                <a:solidFill>
                  <a:srgbClr val="000000"/>
                </a:solidFill>
                <a:latin typeface="Century Gothic"/>
                <a:ea typeface="微软雅黑" charset="0"/>
              </a:rPr>
              <a:t>获取更多优质模板（放映模式）</a:t>
            </a:r>
            <a:endParaRPr kumimoji="1" lang="zh-CN" altLang="en-US" sz="1335" dirty="0">
              <a:solidFill>
                <a:srgbClr val="000000"/>
              </a:solidFill>
              <a:latin typeface="Century Gothic"/>
              <a:ea typeface="微软雅黑" charset="0"/>
            </a:endParaRP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.png"/><Relationship Id="rId3" Type="http://schemas.openxmlformats.org/officeDocument/2006/relationships/tags" Target="../tags/tag1.xml"/><Relationship Id="rId2" Type="http://schemas.openxmlformats.org/officeDocument/2006/relationships/hyperlink" Target="https://platform.claude.com/docs/en/agent-sdk/quickstart" TargetMode="External"/><Relationship Id="rId1" Type="http://schemas.openxmlformats.org/officeDocument/2006/relationships/hyperlink" Target="https://code.claude.com/docs/zh-CN/overview#web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80566" y="2964930"/>
            <a:ext cx="823087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800" b="1" dirty="0"/>
              <a:t>Claude Code </a:t>
            </a:r>
            <a:r>
              <a:rPr lang="zh-CN" altLang="en-US" sz="4800" b="1" dirty="0"/>
              <a:t>中的</a:t>
            </a:r>
            <a:r>
              <a:rPr lang="en-US" altLang="zh-CN" sz="4800" b="1" dirty="0"/>
              <a:t> </a:t>
            </a:r>
            <a:r>
              <a:rPr lang="en-US" altLang="zh-CN" sz="4800" b="1" dirty="0"/>
              <a:t>SubAgent</a:t>
            </a:r>
            <a:endParaRPr lang="en-US" altLang="zh-CN" sz="4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10674985" y="5873750"/>
            <a:ext cx="1166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陈烁峰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207635" y="208280"/>
            <a:ext cx="1706880" cy="95694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r>
              <a:rPr lang="zh-CN" altLang="en-US" sz="6000" dirty="0" smtClean="0">
                <a:latin typeface="+mj-lt"/>
              </a:rPr>
              <a:t>目录</a:t>
            </a:r>
            <a:endParaRPr lang="en-US" altLang="zh-CN" sz="6000" dirty="0" smtClean="0">
              <a:latin typeface="+mj-lt"/>
            </a:endParaRPr>
          </a:p>
          <a:p>
            <a:pPr algn="ctr"/>
            <a:endParaRPr lang="en-US" altLang="zh-CN" sz="2400" dirty="0">
              <a:latin typeface="+mj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712472" y="2688600"/>
            <a:ext cx="1751798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rPr lang="zh-CN" altLang="en-US" sz="2800" b="1" dirty="0" smtClean="0">
                <a:latin typeface="+mj-lt"/>
                <a:ea typeface="微软雅黑" charset="0"/>
              </a:rPr>
              <a:t>整体</a:t>
            </a:r>
            <a:r>
              <a:rPr lang="zh-CN" altLang="en-US" sz="2800" b="1" dirty="0" smtClean="0">
                <a:latin typeface="+mj-lt"/>
                <a:ea typeface="微软雅黑" charset="0"/>
              </a:rPr>
              <a:t>概览</a:t>
            </a:r>
            <a:endParaRPr lang="zh-CN" altLang="en-US" sz="2800" b="1" dirty="0" smtClean="0">
              <a:latin typeface="+mj-lt"/>
              <a:ea typeface="微软雅黑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891405" y="2655570"/>
            <a:ext cx="2505710" cy="650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609600">
              <a:lnSpc>
                <a:spcPct val="130000"/>
              </a:lnSpc>
            </a:pPr>
            <a:r>
              <a:rPr lang="en-US" altLang="zh-CN" sz="2800" b="1" dirty="0" smtClean="0">
                <a:latin typeface="+mj-lt"/>
                <a:ea typeface="微软雅黑" charset="0"/>
              </a:rPr>
              <a:t>SubAgent</a:t>
            </a:r>
            <a:endParaRPr lang="en-US" altLang="zh-CN" sz="2800" b="1" dirty="0" smtClean="0">
              <a:latin typeface="+mj-lt"/>
              <a:ea typeface="微软雅黑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46520" y="2684780"/>
            <a:ext cx="427291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rPr lang="zh-CN" sz="2800" b="1" dirty="0" smtClean="0">
                <a:latin typeface="+mj-lt"/>
                <a:ea typeface="微软雅黑" charset="0"/>
              </a:rPr>
              <a:t>总结</a:t>
            </a:r>
            <a:endParaRPr lang="zh-CN" sz="2800" b="1" dirty="0" smtClean="0">
              <a:latin typeface="+mj-lt"/>
              <a:ea typeface="微软雅黑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792883" y="3410836"/>
            <a:ext cx="1638300" cy="1133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5322723" y="3397501"/>
            <a:ext cx="1638300" cy="1133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820660" y="3369310"/>
            <a:ext cx="1586865" cy="1136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94927" y="3280457"/>
            <a:ext cx="3602146" cy="88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rPr lang="en-US" altLang="zh-CN" sz="4400" b="1" dirty="0">
                <a:latin typeface="+mj-lt"/>
                <a:ea typeface="微软雅黑" charset="0"/>
              </a:rPr>
              <a:t>PART</a:t>
            </a:r>
            <a:r>
              <a:rPr lang="zh-CN" altLang="en-US" sz="4400" b="1" dirty="0">
                <a:latin typeface="+mj-lt"/>
                <a:ea typeface="微软雅黑" charset="0"/>
              </a:rPr>
              <a:t> </a:t>
            </a:r>
            <a:r>
              <a:rPr lang="en-US" altLang="zh-CN" sz="4400" b="1" dirty="0" smtClean="0">
                <a:latin typeface="+mj-lt"/>
                <a:ea typeface="微软雅黑" charset="0"/>
              </a:rPr>
              <a:t>ONE</a:t>
            </a:r>
            <a:endParaRPr lang="zh-CN" altLang="en-US" sz="4400" b="1" dirty="0">
              <a:latin typeface="+mj-lt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36733" y="2417412"/>
            <a:ext cx="4318534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rPr lang="zh-CN" altLang="en-US" sz="6000" b="1" dirty="0" smtClean="0">
                <a:latin typeface="+mj-lt"/>
                <a:ea typeface="微软雅黑" charset="0"/>
                <a:sym typeface="+mn-ea"/>
              </a:rPr>
              <a:t>整体概览</a:t>
            </a:r>
            <a:endParaRPr lang="zh-CN" altLang="en-US" sz="6000" dirty="0" smtClean="0">
              <a:latin typeface="+mj-lt"/>
              <a:ea typeface="微软雅黑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18436" y="317252"/>
            <a:ext cx="120142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/>
              <a:t>全景</a:t>
            </a:r>
            <a:r>
              <a:rPr lang="zh-CN" altLang="en-US" sz="2000" b="1" dirty="0" smtClean="0"/>
              <a:t>概览</a:t>
            </a:r>
            <a:endParaRPr lang="zh-CN" altLang="en-US" sz="2000" b="1" dirty="0" smtClean="0"/>
          </a:p>
        </p:txBody>
      </p:sp>
      <p:sp>
        <p:nvSpPr>
          <p:cNvPr id="18" name="矩形 17"/>
          <p:cNvSpPr/>
          <p:nvPr/>
        </p:nvSpPr>
        <p:spPr>
          <a:xfrm>
            <a:off x="318135" y="821055"/>
            <a:ext cx="9961880" cy="2607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在讲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SubAgent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之前，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从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整体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核心能力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视角观看 Claude Code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，可以帮助我们知道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Claude Code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有什么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，以及 SubAgent 在整体所处的位置，有助于我们更好的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运用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SubAgent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88730" y="6372860"/>
            <a:ext cx="3152775" cy="485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875" y="2074545"/>
            <a:ext cx="8280400" cy="3606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02260" y="239395"/>
            <a:ext cx="12014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b="1" dirty="0" smtClean="0">
                <a:sym typeface="+mn-ea"/>
                <a:hlinkClick r:id="rId1" action="ppaction://hlinkfile"/>
              </a:rPr>
              <a:t>全景概览</a:t>
            </a:r>
            <a:endParaRPr lang="zh-CN" altLang="en-US" sz="2000" b="1" dirty="0" smtClean="0">
              <a:sym typeface="+mn-ea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02260" y="623570"/>
            <a:ext cx="9014460" cy="596455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1. </a:t>
            </a:r>
            <a:r>
              <a:rPr 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基础层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-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提供记忆能力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是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Claude Code 的长期记忆系统，避免灾难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性遗忘。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它的核心文件是 CLAUDE.md，是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项目手册、长期筑立</a:t>
            </a: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在会话中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的上下文</a:t>
            </a: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2.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能力拓展层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</a:t>
            </a:r>
            <a:r>
              <a:rPr 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提供拓展能力</a:t>
            </a:r>
            <a:endParaRPr lang="zh-CN"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例如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 Skills 代表着一系列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可以被语义化加载的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能力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，由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Claude Code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自行判断是否激活。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SubAgent </a:t>
            </a: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解决单一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Agent </a:t>
            </a: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上下文、职责、权限膨胀</a:t>
            </a: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等问题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3.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集成层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-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提供和外部世界连接的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能力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负责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连接外部世界。例如，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无头模式让 Claude Code 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在没有人工交互的情况下运行，适合外部系统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的  CI/CD 集成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——自动代码审查、自动修复、自动生成变更日志等。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4.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hlinkClick r:id="rId2" action="ppaction://hlinkfile"/>
              </a:rPr>
              <a:t>编程接口层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-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编程能力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当配置式的扩展不够用时，你可以用代码来驱动 Claude。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这种方式适合构建自定义 Agent——完全控制执行流程、自定义工具、复杂工作流。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213860" y="3653790"/>
            <a:ext cx="30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11215" y="2906395"/>
            <a:ext cx="6257925" cy="2726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02260" y="325120"/>
            <a:ext cx="12014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b="1" dirty="0" smtClean="0">
                <a:sym typeface="+mn-ea"/>
              </a:rPr>
              <a:t>全景概览</a:t>
            </a:r>
            <a:endParaRPr lang="zh-CN" altLang="en-US" sz="2000" b="1" dirty="0" smtClean="0">
              <a:sym typeface="+mn-ea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02260" y="863600"/>
            <a:ext cx="9014460" cy="288671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在真实的业务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场景中，这些组件不是孤立存在的，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它们相互协作，共同完成复杂任务</a:t>
            </a: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说到业务场景，不知道大家有木有遇到这样的的场景？</a:t>
            </a: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213860" y="3653790"/>
            <a:ext cx="30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4340860" y="3780790"/>
            <a:ext cx="309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19405" y="3011805"/>
            <a:ext cx="9015095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某天你让 Claude Code 帮你跑一个测试套件，终端输出了 500 行日志；</a:t>
            </a:r>
            <a:endParaRPr lang="zh-CN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接着你又让它分析一段代码结构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/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项目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，又输出了 200 行结果；</a:t>
            </a:r>
            <a:endParaRPr lang="zh-CN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然后你再让它修一个 bug，</a:t>
            </a:r>
            <a:r>
              <a:rPr lang="zh-CN" b="1" dirty="0">
                <a:solidFill>
                  <a:srgbClr val="C00000"/>
                </a:solidFill>
                <a:latin typeface="微软雅黑" charset="0"/>
                <a:ea typeface="微软雅黑" charset="0"/>
                <a:sym typeface="+mn-ea"/>
              </a:rPr>
              <a:t>把上千行日志、代码片段和分析结果都堆进同一段对话里。</a:t>
            </a:r>
            <a:endParaRPr lang="zh-CN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lang="zh-CN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这时，你在询问其他问题，你可能会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觉得 Claude Code 越来越“弱智”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94927" y="3280457"/>
            <a:ext cx="3602146" cy="88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rPr lang="en-US" altLang="zh-CN" sz="4400" b="1" dirty="0">
                <a:latin typeface="+mj-lt"/>
                <a:ea typeface="微软雅黑" charset="0"/>
              </a:rPr>
              <a:t>PART TWO</a:t>
            </a:r>
            <a:endParaRPr lang="en-US" altLang="zh-CN" sz="4400" b="1" dirty="0">
              <a:latin typeface="+mj-lt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6720" y="2417445"/>
            <a:ext cx="6257925" cy="2131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609600">
              <a:lnSpc>
                <a:spcPct val="130000"/>
              </a:lnSpc>
            </a:pPr>
            <a:r>
              <a:rPr lang="en-US" altLang="zh-CN" sz="6000" b="1" dirty="0" smtClean="0">
                <a:latin typeface="+mj-lt"/>
                <a:ea typeface="微软雅黑" charset="0"/>
                <a:sym typeface="+mn-ea"/>
              </a:rPr>
              <a:t>SubAgent</a:t>
            </a:r>
            <a:endParaRPr lang="zh-CN" altLang="en-US" sz="6000" dirty="0">
              <a:latin typeface="+mj-lt"/>
              <a:ea typeface="微软雅黑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2105" y="212090"/>
            <a:ext cx="29425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为什么要有 SubAgent？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32105" y="610870"/>
            <a:ext cx="11210290" cy="585787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2105" y="149860"/>
            <a:ext cx="11119485" cy="63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</a:b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例如刚刚的例子，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你会感觉 Claude Code 越来越“弱智”，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问题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或许不全是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大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模型本身，而在于主对话的上下文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可能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已经被大量中间过程污染。真正重要的信息被稀释，Agent 的注意力自然也会开始分散。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9565" y="1488440"/>
            <a:ext cx="111010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而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SubAgent 适合把这些高噪声、高耦合、可拆分的任务切出去处理，将任务交由专门的子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 Agent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处理，让主 Agent 只接收经过整理的结论，而不是被完整过程淹没。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基于同样的思想，社区中也出现了许多类似的实践，比如：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[skill-creator](https://github.com/anthropics/skills/blob/main/skills/skill-creator/SKILL.md)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2105" y="3688080"/>
            <a:ext cx="10229850" cy="2249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SubAgent 的核心价值，不是“把一个 Agent 拆成很多个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子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 Agent”这么简单，而是解决单一 Agent 在以下三个方面不断膨胀的问题：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上下文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权限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职责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2105" y="212090"/>
            <a:ext cx="31972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如何编写一个 SubAgent？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32105" y="610870"/>
            <a:ext cx="11210290" cy="585787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  </a:t>
            </a:r>
            <a:b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2105" y="765175"/>
            <a:ext cx="10358755" cy="6462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从 [官方文档](https://code.claude.com/docs/zh-CN/sub-agents) 看出，Subagent 文件使用 YAML frontmatter 进行配置，后跟 Markdown 中的系统提示。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下面是一个简单的 code-reviewer SubAgent 文件示例：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```markdown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---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name: code-reviewer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description: Reviews code for quality and best practices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tools: Read, Glob, Grep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model: sonnet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---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You are a code reviewer. When invoked, analyze the code and provide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specific, actionable feedback on quality, security, and best practices.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```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这里我们简单的了解一下 subAgent 是由两部分组成的：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YAML frontmatter：用来描述 subAgent 的元信息，包括名称、描述、工具权限、模型选择等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Prompt 模板：用来定义 subAgent 的角色、任务和输出格式等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2105" y="212090"/>
            <a:ext cx="31972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如何编写一个 SubAgent？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32105" y="610870"/>
            <a:ext cx="11210290" cy="585787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b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  </a:t>
            </a:r>
            <a:b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</a:b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2105" y="628015"/>
            <a:ext cx="1035875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通过这个案例，可以把子代理理解为一个 “专职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的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 code review 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小助手”：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它有自己的上下文窗口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它可以被授予独立的工具权限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它只负责某一类明确任务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它完成后把结果带回给主 Agent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从工程视角看，SubAgent 的价值主要体现在三点：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*   **上下文隔离**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*   **权限约束**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*   **复用**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pic>
        <p:nvPicPr>
          <p:cNvPr id="2" name="图片 1" descr="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2665" y="1099185"/>
            <a:ext cx="6109335" cy="45916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2105" y="4387850"/>
            <a:ext cx="5894705" cy="1823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lnSpc>
                <a:spcPct val="100000"/>
              </a:lnSpc>
              <a:buClrTx/>
              <a:buSzTx/>
              <a:buNone/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配置要点（速查）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 lvl="0" algn="l">
              <a:lnSpc>
                <a:spcPct val="100000"/>
              </a:lnSpc>
              <a:buClrTx/>
              <a:buSzTx/>
              <a:buNone/>
            </a:pP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lvl="0" algn="l">
              <a:lnSpc>
                <a:spcPct val="100000"/>
              </a:lnSpc>
              <a:buClrTx/>
              <a:buSzTx/>
              <a:buNone/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name / description：必填；description 决定触发时机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buClrTx/>
              <a:buSzTx/>
              <a:buNone/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tools / disallowedTools：白名单或黑名单，择一即可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model：haiku / sonnet / opus / inherit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permissionMode：如 plan 偏只读探索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skills：加载领域知识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hooks：工具层硬约束，比只写 Prompt 可靠</a:t>
            </a:r>
            <a:endParaRPr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2105" y="212090"/>
            <a:ext cx="27292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什么时候该用子代理？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32105" y="310515"/>
            <a:ext cx="11210290" cy="177038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并不是所有任务都需要 SubAgent。判断标准很简单：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当你发现任务具备“**高噪声、需要隔离、可拆分**”这些特点时，就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可以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考虑引入子代理。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1. 高噪声任务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典型场景包括：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跑测试用例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分析错误日志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排查构建输出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检查大规模检索结果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这类任务的共同点是：过程信息很多，但主 Agent 真正需要的往往只是结论。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85025" y="1721485"/>
            <a:ext cx="4064000" cy="3446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2. 有权限隔离要求的任务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例如：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代码审查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安全审计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只读数据库查询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配置检查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这些任务通常不希望 Agent 修改代码或执行高风险操作，因此适合通过 SubAgent 严格约束工具权限。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2105" y="212090"/>
            <a:ext cx="27292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什么时候该用子代理？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32105" y="704850"/>
            <a:ext cx="11210290" cy="177038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3. 可并行拆分的任务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例如同时做下面三件事：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跑测试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分析错误日志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做代码审查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如果这些任务相互独立，没有直接依赖关系，那么就可以交给多个 SubAgent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并行处理，最后由主 Agent 统一汇总结果。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20585" y="610870"/>
            <a:ext cx="4064000" cy="3446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4. 明确分阶段的流水线任务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例如修复一个 bug，通常会经历四个阶段：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1. 定位问题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2. 分析原因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3. 实施修复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4. 验证结果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这种任务的特点是阶段之间有依赖关系，上一个阶段的输出，会成为下一个阶段的输入，因此更适合按流水线方式编排多个子代理。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2605" y="4658995"/>
            <a:ext cx="9924415" cy="1906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&gt; ‼️ 重要原则：子代理应该由主 Agent 创建，不要在子代理内再创建新的子代理。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7020" y="212090"/>
            <a:ext cx="26879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SubAgent 工作流编排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77825" y="727710"/>
            <a:ext cx="10653395" cy="45720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理解了 SubAgent 的上下文隔离、权限控制和能力复用之后，下一步就是思考：如何根据业务场景去编排这些子代理。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实际工作里，最常见的是两种模式：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并行模式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流水线模式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7825" y="2599690"/>
            <a:ext cx="4923155" cy="3725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并行场景：接手一个新项目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假设一位前端同学转做全栈，开始接手一个新的后端项目。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为了快速理解系统，他通常需要分别摸清多个模块：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```text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1. 理解 Auth 模块代码：4 小时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2. 理解 Database 模块代码：8 小时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3. 理解 API 模块代码：3 小时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综合理解：?? （我记不起来了 😩）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```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28995" y="1230630"/>
            <a:ext cx="5912485" cy="5623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如果完全靠人工逐个阅读，成本很高，而且每理解完一个模块，还要重新把记忆拼接起来。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在 AI 场景下，我们可以把这类任务拆给多个 SubAgent 并行完成：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5" name="图片 4" descr="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020" y="2599690"/>
            <a:ext cx="6370955" cy="37255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52920" y="3605530"/>
            <a:ext cx="4064000" cy="2045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一个 SubAgent 负责 Auth 模块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一个 SubAgent 负责 Database 模块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一个 SubAgent 负责 API 模块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它们各自完成探索后，把结构化结论返回给主 Agent，再由主 Agent 做统一整合：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28995" y="5985510"/>
            <a:ext cx="6096000" cy="650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rgbClr val="FF0000"/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rgbClr val="FF0000"/>
                </a:solidFill>
                <a:latin typeface="微软雅黑" charset="0"/>
                <a:ea typeface="微软雅黑" charset="0"/>
                <a:sym typeface="+mn-ea"/>
              </a:rPr>
              <a:t>&gt; 并行探索有一个隐含前提：这些子任务之间不能存在强依赖关系</a:t>
            </a:r>
            <a:endParaRPr lang="zh-CN" altLang="en-US" sz="1400" dirty="0">
              <a:solidFill>
                <a:srgbClr val="FF0000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340360"/>
            <a:ext cx="8058150" cy="617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7020" y="212090"/>
            <a:ext cx="26879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SubAgent 工作流编排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77825" y="727710"/>
            <a:ext cx="10653395" cy="45720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串行场景：修复 Bug 流水线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与并行场景不同，修复 bug 往往是一个天然分阶段的流程。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通常会经历以下几个步骤：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1. 定位问题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2. 分析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问题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3. 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解决问题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4. 验证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问题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这种情况下，每一步都依赖前一步的输出，因此更适合采用流水线式的编排：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你可以让不同的 SubAgent 分别负责不同阶段，主 Agent 负责在每个阶段之间进行交接和整合。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如果所有阶段都交给主 Agent 一次性完成，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那么问题定位过程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（不需要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 Wirte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、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Edit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权限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）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、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分析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过程、修改过程、验证过程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会全部混在同一上下文中，很容易造成注意力分散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，权限控制混乱。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而使用流水线拆分后，主 Agent 只需要关注“当前阶段最需要的输入和输出”，整个修复过程会更清晰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pic>
        <p:nvPicPr>
          <p:cNvPr id="2" name="图片 1" descr="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9935" y="1647190"/>
            <a:ext cx="8333740" cy="21189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370" y="397510"/>
            <a:ext cx="7054850" cy="47123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835" y="0"/>
            <a:ext cx="8181340" cy="6621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7020" y="212090"/>
            <a:ext cx="31515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并行 vs 流水线：怎么选？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77825" y="727710"/>
            <a:ext cx="10653395" cy="45720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判断标准其实很直接：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任务之间独立吗？独立就适合并行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- 任务之间有依赖吗？有依赖就适合流水线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当然，真实场景里并不总是纯粹的并行或纯粹的串行。很多时候会是“先串行定位，再并行分析；最后再串行汇总”的混合模式。编排方式应该围绕业务依赖关系来设计，而不是为了多 Agent 而多 Agent。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pic>
        <p:nvPicPr>
          <p:cNvPr id="2" name="图片 1" descr="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4045" y="3005455"/>
            <a:ext cx="8371840" cy="3597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7020" y="212090"/>
            <a:ext cx="33483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b="1" dirty="0" smtClean="0">
                <a:sym typeface="+mn-ea"/>
              </a:rPr>
              <a:t>SubAgent Team：团队协作</a:t>
            </a:r>
            <a:endParaRPr sz="2000" b="1" dirty="0" smtClean="0"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92100" y="590550"/>
            <a:ext cx="10653395" cy="45720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前面提到的 SubAgent，本质上仍然是由主 Agent 调度、彼此相互隔离的执行单元。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这种方式已经能解决很多问题，但它也有一个天然限制：子代理之间通常不能直接交流。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这意味着在一些复杂问题中，不同子代理即使各自发现了关键线索，也可能因为无法互相看到对方的发现，而错过真正的交叉结论。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2100" y="1648460"/>
            <a:ext cx="10970260" cy="3766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600" b="1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一个典型例子</a:t>
            </a:r>
            <a:endParaRPr sz="1600" b="1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假设你的系统出现了一个诡异 bug：用户登录后偶尔会话丢失，而且没有明显规律。你怀疑可能有三类原因：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假设 A：JWT token 的过期时间计算有问题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假设 B：Redis session 存储</a:t>
            </a:r>
            <a:r>
              <a:rPr lang="zh-CN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问题</a:t>
            </a:r>
            <a:endParaRPr lang="zh-CN"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- 假设 C：负载均衡器的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sticky 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 session 配置异常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如果用普通 SubAgent 处理，可能会像这样：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每个子代理都在自己的上下文里独立调查，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但彼此无法直接交换发现。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3" name="图片 2" descr="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5930" y="2660015"/>
            <a:ext cx="5188585" cy="40322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2100" y="5000625"/>
            <a:ext cx="10460355" cy="2322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比如子代理 B 如果能看到子代理 C 的发现，它可能会进一步意识到：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Redis 连接数上限问题，可能不是单纯的缓存问题，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而是 sticky session 在 5 分钟后切换机器，触发了新的 Redis 连接建立。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这类需要多视角交叉验证和相互挑战的问题，就是 Agent Team 要解决的场景：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30000"/>
              </a:lnSpc>
              <a:buClrTx/>
              <a:buSzTx/>
              <a:buNone/>
            </a:pPr>
            <a:r>
              <a:rPr sz="140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让多个 Agent 不只是“分别干活”，而是可以围绕同一个问题协作推进。</a:t>
            </a:r>
            <a:endParaRPr sz="14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6" name="图片 5" descr="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090" y="429260"/>
            <a:ext cx="7528560" cy="4271010"/>
          </a:xfrm>
          <a:prstGeom prst="rect">
            <a:avLst/>
          </a:prstGeom>
        </p:spPr>
      </p:pic>
      <p:pic>
        <p:nvPicPr>
          <p:cNvPr id="7" name="图片 6" descr="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55" y="824230"/>
            <a:ext cx="11946255" cy="5755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32555" y="3280410"/>
            <a:ext cx="4425950" cy="97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rPr lang="en-US" altLang="zh-CN" sz="4400" b="1" dirty="0">
                <a:latin typeface="+mj-lt"/>
                <a:ea typeface="微软雅黑" charset="0"/>
              </a:rPr>
              <a:t>PART</a:t>
            </a:r>
            <a:r>
              <a:rPr lang="zh-CN" altLang="en-US" sz="4400" b="1" dirty="0">
                <a:latin typeface="+mj-lt"/>
                <a:ea typeface="微软雅黑" charset="0"/>
              </a:rPr>
              <a:t> </a:t>
            </a:r>
            <a:r>
              <a:rPr lang="en-US" altLang="zh-CN" sz="4400" b="1" dirty="0">
                <a:latin typeface="+mj-lt"/>
                <a:ea typeface="微软雅黑" charset="0"/>
              </a:rPr>
              <a:t>THREE</a:t>
            </a:r>
            <a:endParaRPr lang="en-US" altLang="zh-CN" sz="4400" b="1" dirty="0">
              <a:latin typeface="+mj-lt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78050" y="2378075"/>
            <a:ext cx="8376920" cy="1873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609600">
              <a:lnSpc>
                <a:spcPct val="130000"/>
              </a:lnSpc>
            </a:pPr>
            <a:r>
              <a:rPr lang="zh-CN" sz="6000" b="1" dirty="0" smtClean="0">
                <a:latin typeface="+mj-lt"/>
                <a:ea typeface="微软雅黑" charset="0"/>
                <a:sym typeface="+mn-ea"/>
              </a:rPr>
              <a:t>总结</a:t>
            </a:r>
            <a:endParaRPr lang="zh-CN" sz="6000" b="1" dirty="0" smtClean="0">
              <a:latin typeface="+mj-lt"/>
              <a:ea typeface="微软雅黑" charset="0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83210" y="189230"/>
            <a:ext cx="6921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b="1" dirty="0" smtClean="0">
                <a:sym typeface="+mn-ea"/>
              </a:rPr>
              <a:t>总结</a:t>
            </a:r>
            <a:endParaRPr lang="zh-CN" sz="2000" b="1" dirty="0" smtClean="0"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335915" y="804545"/>
            <a:ext cx="7317740" cy="3359150"/>
          </a:xfrm>
          <a:prstGeom prst="rect">
            <a:avLst/>
          </a:prstGeom>
        </p:spPr>
        <p:txBody>
          <a:bodyPr wrap="square">
            <a:noAutofit/>
          </a:bodyPr>
          <a:p>
            <a:pPr marL="0" algn="l">
              <a:lnSpc>
                <a:spcPct val="130000"/>
              </a:lnSpc>
              <a:buClrTx/>
              <a:buSzTx/>
              <a:buNone/>
            </a:pPr>
            <a:r>
              <a:rPr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分享至此，此时你或许忘记了 SubAgent 具体的配置细节，</a:t>
            </a:r>
            <a:endParaRPr i="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0" algn="l">
              <a:lnSpc>
                <a:spcPct val="130000"/>
              </a:lnSpc>
              <a:buClrTx/>
              <a:buSzTx/>
              <a:buNone/>
            </a:pPr>
            <a:r>
              <a:rPr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但</a:t>
            </a:r>
            <a:r>
              <a:rPr lang="zh-CN"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没有关系，因为</a:t>
            </a:r>
            <a:r>
              <a:rPr lang="zh-CN"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这并不重要</a:t>
            </a:r>
            <a:r>
              <a:rPr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。</a:t>
            </a:r>
            <a:endParaRPr i="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0" algn="l">
              <a:lnSpc>
                <a:spcPct val="130000"/>
              </a:lnSpc>
              <a:buClrTx/>
              <a:buSzTx/>
              <a:buNone/>
            </a:pPr>
            <a:r>
              <a:rPr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重要的是，当你在处理繁琐的任务中，遇到上下文膨胀、权限不清晰，职责混乱的情况下，可以</a:t>
            </a:r>
            <a:r>
              <a:rPr lang="zh-CN"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考虑</a:t>
            </a:r>
            <a:r>
              <a:rPr i="0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</a:rPr>
              <a:t>使用 subAgent 去编排你的工作流。</a:t>
            </a:r>
            <a:endParaRPr i="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0" algn="l">
              <a:lnSpc>
                <a:spcPct val="130000"/>
              </a:lnSpc>
              <a:buClrTx/>
              <a:buSzTx/>
              <a:buNone/>
            </a:pPr>
            <a:endParaRPr i="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0" algn="l">
              <a:lnSpc>
                <a:spcPct val="130000"/>
              </a:lnSpc>
              <a:buClrTx/>
              <a:buSzTx/>
              <a:buNone/>
            </a:pPr>
            <a:endParaRPr i="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0" algn="l">
              <a:lnSpc>
                <a:spcPct val="130000"/>
              </a:lnSpc>
              <a:buClrTx/>
              <a:buSzTx/>
              <a:buNone/>
            </a:pP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915" y="3867150"/>
            <a:ext cx="7530465" cy="14471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l">
              <a:lnSpc>
                <a:spcPct val="130000"/>
              </a:lnSpc>
              <a:buClrTx/>
              <a:buSzTx/>
              <a:buNone/>
            </a:pPr>
            <a:endParaRPr i="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pPr marL="0" algn="l">
              <a:lnSpc>
                <a:spcPct val="130000"/>
              </a:lnSpc>
              <a:buClrTx/>
              <a:buSzTx/>
              <a:buNone/>
            </a:pP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人生或许也亦是如此，而我们恰好是定义这场人生工作流的主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 Agent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，以你喜欢的方式运行，是正确且成功的。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  <a:sym typeface="+mn-ea"/>
            </a:endParaRPr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35915" y="2853055"/>
            <a:ext cx="75304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Claude Code 的 SubAgent 机制，本质是一套任务分工、边界清晰、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职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责</a:t>
            </a:r>
            <a:r>
              <a:rPr lang="zh-CN"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对等</a:t>
            </a:r>
            <a:r>
              <a:rPr dirty="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sym typeface="+mn-ea"/>
              </a:rPr>
              <a:t>、结果导向的协作哲学</a:t>
            </a:r>
            <a:endParaRPr i="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53235" y="2771890"/>
            <a:ext cx="8685530" cy="1106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800" b="1" dirty="0"/>
              <a:t>THANK </a:t>
            </a:r>
            <a:r>
              <a:rPr lang="en-US" altLang="zh-CN" sz="4800" b="1" dirty="0" smtClean="0"/>
              <a:t>YOU FOR </a:t>
            </a:r>
            <a:r>
              <a:rPr lang="en-US" altLang="zh-CN" sz="4800" b="1" dirty="0"/>
              <a:t>WATCHING</a:t>
            </a:r>
            <a:br>
              <a:rPr lang="en-US" altLang="zh-CN" sz="4800" b="1" dirty="0"/>
            </a:br>
            <a:r>
              <a:rPr lang="zh-CN" altLang="en-US" b="1" dirty="0"/>
              <a:t>你盼世界，我盼你无</a:t>
            </a:r>
            <a:r>
              <a:rPr lang="en-US" altLang="zh-CN" b="1" dirty="0"/>
              <a:t>bug</a:t>
            </a:r>
            <a:endParaRPr lang="en-US" altLang="zh-CN" b="1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4476</Words>
  <Application>WPS 演示</Application>
  <PresentationFormat>宽屏</PresentationFormat>
  <Paragraphs>318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9" baseType="lpstr">
      <vt:lpstr>Arial</vt:lpstr>
      <vt:lpstr>宋体</vt:lpstr>
      <vt:lpstr>Wingdings</vt:lpstr>
      <vt:lpstr>Segoe UI Light</vt:lpstr>
      <vt:lpstr>苹方-简</vt:lpstr>
      <vt:lpstr>Segoe UI Light</vt:lpstr>
      <vt:lpstr>Thonburi</vt:lpstr>
      <vt:lpstr>微软雅黑</vt:lpstr>
      <vt:lpstr>微软雅黑</vt:lpstr>
      <vt:lpstr>Century Gothic</vt:lpstr>
      <vt:lpstr>汉仪旗黑</vt:lpstr>
      <vt:lpstr>Segoe UI</vt:lpstr>
      <vt:lpstr>微软雅黑</vt:lpstr>
      <vt:lpstr>宋体</vt:lpstr>
      <vt:lpstr>Arial Unicode MS</vt:lpstr>
      <vt:lpstr>Calibri</vt:lpstr>
      <vt:lpstr>Helvetica Neue</vt:lpstr>
      <vt:lpstr>汉仪书宋二KW</vt:lpstr>
      <vt:lpstr>Apple Color Emoji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BOSSPPT2017-2018极简风格</dc:title>
  <dc:creator>BOSSPPT 2017-2018</dc:creator>
  <cp:keywords>BOSSPPT顶尖职业文案</cp:keywords>
  <dc:description>BOSSPPT致力于提供高质量，有品质的模板，拒绝垃圾模板！
本模板由bossppt设计师制作或制作师二次制作整理，bossppt为此花费了大量心血。
如果非本店购买，请直接向盗版店进行索赔。
本店淘宝唯一购买网址：https://chinappt.taobao.com</dc:description>
  <dc:subject>BOSSPPT 2017-2018</dc:subject>
  <cp:category>店铺： BOSSPPT顶尖职业文案</cp:category>
  <cp:lastModifiedBy>陈烁峰</cp:lastModifiedBy>
  <cp:revision>302</cp:revision>
  <dcterms:created xsi:type="dcterms:W3CDTF">2026-03-26T05:30:12Z</dcterms:created>
  <dcterms:modified xsi:type="dcterms:W3CDTF">2026-03-26T05:30:12Z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18686F07AE188EE1FE3F1463A662DF5F</vt:lpwstr>
  </property>
  <property fmtid="{D5CDD505-2E9C-101B-9397-08002B2CF9AE}" pid="3" name="KSOProductBuildVer">
    <vt:lpwstr>2052-6.8.2.8850</vt:lpwstr>
  </property>
</Properties>
</file>